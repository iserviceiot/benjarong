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3200400"/>
          </a:xfrm>
          <a:prstGeom prst="rect">
            <a:avLst/>
          </a:prstGeom>
          <a:noFill/>
        </p:spPr>
        <p:txBody>
          <a:bodyPr wrap="square">
            <a:spAutoFit/>
          </a:bodyPr>
          <a:lstStyle/>
          <a:p>
            <a:pPr algn="ctr">
              <a:defRPr sz="3600" b="1">
                <a:solidFill>
                  <a:srgbClr val="1A365D"/>
                </a:solidFill>
              </a:defRPr>
            </a:pPr>
            <a:r>
              <a:t>Thailand Tourism Digital Public Infrastructure</a:t>
            </a:r>
          </a:p>
          <a:p>
            <a:pPr algn="ctr">
              <a:defRPr sz="2200">
                <a:solidFill>
                  <a:srgbClr val="2B6CB0"/>
                </a:solidFill>
              </a:defRPr>
            </a:pPr>
            <a:r>
              <a:t>รายงานสรุปวิเคราะห์ข้อมูลและจัดหมวดหมู่เอกสารโครงการ</a:t>
            </a:r>
          </a:p>
          <a:p>
            <a:pPr algn="ctr">
              <a:defRPr sz="1400">
                <a:solidFill>
                  <a:srgbClr val="718096"/>
                </a:solidFill>
              </a:defRPr>
            </a:pPr>
            <a:r>
              <a:t>Tourism Information Portal | ประมวลผลเมื่อ: 2026-08-20 23:24:36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914400"/>
          </a:xfrm>
          <a:prstGeom prst="rect">
            <a:avLst/>
          </a:prstGeom>
          <a:noFill/>
        </p:spPr>
        <p:txBody>
          <a:bodyPr wrap="none">
            <a:spAutoFit/>
          </a:bodyPr>
          <a:lstStyle/>
          <a:p>
            <a:pPr>
              <a:defRPr sz="2600" b="1">
                <a:solidFill>
                  <a:srgbClr val="1A365D"/>
                </a:solidFill>
              </a:defRPr>
            </a:pPr>
            <a:r>
              <a:t>ภาพรวมเอกสารและการจัดหมวดหมู่ (Document Categories)</a:t>
            </a:r>
          </a:p>
        </p:txBody>
      </p:sp>
      <p:sp>
        <p:nvSpPr>
          <p:cNvPr id="3" name="TextBox 2"/>
          <p:cNvSpPr txBox="1"/>
          <p:nvPr/>
        </p:nvSpPr>
        <p:spPr>
          <a:xfrm>
            <a:off x="731520" y="1645920"/>
            <a:ext cx="10698480" cy="1097280"/>
          </a:xfrm>
          <a:prstGeom prst="rect">
            <a:avLst/>
          </a:prstGeom>
          <a:noFill/>
        </p:spPr>
        <p:txBody>
          <a:bodyPr wrap="square">
            <a:spAutoFit/>
          </a:bodyPr>
          <a:lstStyle/>
          <a:p>
            <a:pPr>
              <a:defRPr sz="1800" b="1">
                <a:solidFill>
                  <a:srgbClr val="2B6CB0"/>
                </a:solidFill>
              </a:defRPr>
            </a:pPr>
            <a:r>
              <a:t>📌 ยุทธศาสตร์และข้อเสนอพันธมิตร (Strategy &amp; Partnership) (2 เอกสาร)</a:t>
            </a:r>
          </a:p>
          <a:p>
            <a:pPr>
              <a:defRPr sz="1400">
                <a:solidFill>
                  <a:srgbClr val="2D3748"/>
                </a:solidFill>
              </a:defRPr>
            </a:pPr>
            <a:r>
              <a:t>   • ร่างแผนหัวข้อการนำเสนอผลประโยชน์ต่างตอบแทน (Win-Win Partnership Proposal) - [Win-Win Partnership Proposal Outline.pdf]</a:t>
            </a:r>
          </a:p>
          <a:p>
            <a:pPr>
              <a:defRPr sz="1400">
                <a:solidFill>
                  <a:srgbClr val="2D3748"/>
                </a:solidFill>
              </a:defRPr>
            </a:pPr>
            <a:r>
              <a:t>   • โครงร่างเนื้อหาเล่มข้อเสนอโครงการ (Final Content Outline) - [Final Content Outline.pdf]</a:t>
            </a:r>
          </a:p>
        </p:txBody>
      </p:sp>
      <p:sp>
        <p:nvSpPr>
          <p:cNvPr id="4" name="TextBox 3"/>
          <p:cNvSpPr txBox="1"/>
          <p:nvPr/>
        </p:nvSpPr>
        <p:spPr>
          <a:xfrm>
            <a:off x="731520" y="2651760"/>
            <a:ext cx="10698480" cy="1097280"/>
          </a:xfrm>
          <a:prstGeom prst="rect">
            <a:avLst/>
          </a:prstGeom>
          <a:noFill/>
        </p:spPr>
        <p:txBody>
          <a:bodyPr wrap="square">
            <a:spAutoFit/>
          </a:bodyPr>
          <a:lstStyle/>
          <a:p>
            <a:pPr>
              <a:defRPr sz="1800" b="1">
                <a:solidFill>
                  <a:srgbClr val="2B6CB0"/>
                </a:solidFill>
              </a:defRPr>
            </a:pPr>
            <a:r>
              <a:t>📌 การจัดสรรงบประมาณและการเงิน (Budget &amp; Finance) (1 เอกสาร)</a:t>
            </a:r>
          </a:p>
          <a:p>
            <a:pPr>
              <a:defRPr sz="1400">
                <a:solidFill>
                  <a:srgbClr val="2D3748"/>
                </a:solidFill>
              </a:defRPr>
            </a:pPr>
            <a:r>
              <a:t>   • ตารางสรุปสัดส่วนงบประมาณรายหมวด (Budget Allocation Summary) - [Budget Allocation Summary.pdf]</a:t>
            </a:r>
          </a:p>
        </p:txBody>
      </p:sp>
      <p:sp>
        <p:nvSpPr>
          <p:cNvPr id="5" name="TextBox 4"/>
          <p:cNvSpPr txBox="1"/>
          <p:nvPr/>
        </p:nvSpPr>
        <p:spPr>
          <a:xfrm>
            <a:off x="731520" y="3657600"/>
            <a:ext cx="10698480" cy="1097280"/>
          </a:xfrm>
          <a:prstGeom prst="rect">
            <a:avLst/>
          </a:prstGeom>
          <a:noFill/>
        </p:spPr>
        <p:txBody>
          <a:bodyPr wrap="square">
            <a:spAutoFit/>
          </a:bodyPr>
          <a:lstStyle/>
          <a:p>
            <a:pPr>
              <a:defRPr sz="1800" b="1">
                <a:solidFill>
                  <a:srgbClr val="2B6CB0"/>
                </a:solidFill>
              </a:defRPr>
            </a:pPr>
            <a:r>
              <a:t>📌 เช็กลิสต์และข้อกำหนดโครงการ (Checklist &amp; Requirements) (1 เอกสาร)</a:t>
            </a:r>
          </a:p>
          <a:p>
            <a:pPr>
              <a:defRPr sz="1400">
                <a:solidFill>
                  <a:srgbClr val="2D3748"/>
                </a:solidFill>
              </a:defRPr>
            </a:pPr>
            <a:r>
              <a:t>   • เช็กลิสต์โครงสร้างหัวข้อและประเด็นปลีกย่อยฉบับสมบูรณ์ - [Checklist โครงสร้างหัวข้อและประเด็นปลีกย่อย.pdf]</a:t>
            </a:r>
          </a:p>
        </p:txBody>
      </p:sp>
      <p:sp>
        <p:nvSpPr>
          <p:cNvPr id="6" name="TextBox 5"/>
          <p:cNvSpPr txBox="1"/>
          <p:nvPr/>
        </p:nvSpPr>
        <p:spPr>
          <a:xfrm>
            <a:off x="731520" y="4663440"/>
            <a:ext cx="10698480" cy="1097280"/>
          </a:xfrm>
          <a:prstGeom prst="rect">
            <a:avLst/>
          </a:prstGeom>
          <a:noFill/>
        </p:spPr>
        <p:txBody>
          <a:bodyPr wrap="square">
            <a:spAutoFit/>
          </a:bodyPr>
          <a:lstStyle/>
          <a:p>
            <a:pPr>
              <a:defRPr sz="1800" b="1">
                <a:solidFill>
                  <a:srgbClr val="2B6CB0"/>
                </a:solidFill>
              </a:defRPr>
            </a:pPr>
            <a:r>
              <a:t>📌 สถาปัตยกรรมระบบและคลาวด์ภาครัฐ (Architecture &amp; GDCC Cloud) (1 เอกสาร)</a:t>
            </a:r>
          </a:p>
          <a:p>
            <a:pPr>
              <a:defRPr sz="1400">
                <a:solidFill>
                  <a:srgbClr val="2D3748"/>
                </a:solidFill>
              </a:defRPr>
            </a:pPr>
            <a:r>
              <a:t>   • การใช้ประโยชน์ Government Cloud (GDCC) และสถาปัตยกรรมระบบ - [Government Cloud GDCC &amp; Architecture.pdf]</a:t>
            </a:r>
          </a:p>
        </p:txBody>
      </p:sp>
      <p:sp>
        <p:nvSpPr>
          <p:cNvPr id="7" name="TextBox 6"/>
          <p:cNvSpPr txBox="1"/>
          <p:nvPr/>
        </p:nvSpPr>
        <p:spPr>
          <a:xfrm>
            <a:off x="731520" y="5669280"/>
            <a:ext cx="10698480" cy="1097280"/>
          </a:xfrm>
          <a:prstGeom prst="rect">
            <a:avLst/>
          </a:prstGeom>
          <a:noFill/>
        </p:spPr>
        <p:txBody>
          <a:bodyPr wrap="square">
            <a:spAutoFit/>
          </a:bodyPr>
          <a:lstStyle/>
          <a:p>
            <a:pPr>
              <a:defRPr sz="1800" b="1">
                <a:solidFill>
                  <a:srgbClr val="2B6CB0"/>
                </a:solidFill>
              </a:defRPr>
            </a:pPr>
            <a:r>
              <a:t>📌 บันทึกความร่วมมือ (MOU &amp; Governance) (1 เอกสาร)</a:t>
            </a:r>
          </a:p>
          <a:p>
            <a:pPr>
              <a:defRPr sz="1400">
                <a:solidFill>
                  <a:srgbClr val="2D3748"/>
                </a:solidFill>
              </a:defRPr>
            </a:pPr>
            <a:r>
              <a:t>   • บันทึกความเข้าใจความร่วมมือขั้นต้น (Memorandum of Understanding: MOU) - [MOU บันทึกความเข้าใจความร่วมมือขั้นต้น.pdf]</a:t>
            </a:r>
          </a:p>
        </p:txBody>
      </p:sp>
      <p:sp>
        <p:nvSpPr>
          <p:cNvPr id="8" name="TextBox 7"/>
          <p:cNvSpPr txBox="1"/>
          <p:nvPr/>
        </p:nvSpPr>
        <p:spPr>
          <a:xfrm>
            <a:off x="731520" y="6675120"/>
            <a:ext cx="10698480" cy="1097280"/>
          </a:xfrm>
          <a:prstGeom prst="rect">
            <a:avLst/>
          </a:prstGeom>
          <a:noFill/>
        </p:spPr>
        <p:txBody>
          <a:bodyPr wrap="square">
            <a:spAutoFit/>
          </a:bodyPr>
          <a:lstStyle/>
          <a:p>
            <a:pPr>
              <a:defRPr sz="1800" b="1">
                <a:solidFill>
                  <a:srgbClr val="2B6CB0"/>
                </a:solidFill>
              </a:defRPr>
            </a:pPr>
            <a:r>
              <a:t>📌 แผนธุรกิจและโมเดลธุรกิจ (Business Model &amp; Plan) (1 เอกสาร)</a:t>
            </a:r>
          </a:p>
          <a:p>
            <a:pPr>
              <a:defRPr sz="1400">
                <a:solidFill>
                  <a:srgbClr val="2D3748"/>
                </a:solidFill>
              </a:defRPr>
            </a:pPr>
            <a:r>
              <a:t>   • แผนธุรกิจและโมเดลธุรกิจ (Business Model Canvas &amp; Business Plan) - [Business Model Canvas &amp; Business Plan.pdf]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5669280"/>
          </a:xfrm>
          <a:prstGeom prst="rect">
            <a:avLst/>
          </a:prstGeom>
          <a:noFill/>
        </p:spPr>
        <p:txBody>
          <a:bodyPr wrap="square">
            <a:spAutoFit/>
          </a:bodyPr>
          <a:lstStyle/>
          <a:p>
            <a:pPr>
              <a:defRPr sz="2200" b="1">
                <a:solidFill>
                  <a:srgbClr val="1A365D"/>
                </a:solidFill>
              </a:defRPr>
            </a:pPr>
            <a:r>
              <a:t>ร่างแผนหัวข้อการนำเสนอผลประโยชน์ต่างตอบแทน (Win-Win Partnership Proposal)</a:t>
            </a:r>
          </a:p>
          <a:p>
            <a:pPr>
              <a:defRPr sz="1200">
                <a:solidFill>
                  <a:srgbClr val="718096"/>
                </a:solidFill>
              </a:defRPr>
            </a:pPr>
            <a:r>
              <a:t>หมวดหมู่: ยุทธศาสตร์และข้อเสนอพันธมิตร (Strategy &amp; Partnership) | แหล่งที่มา: มูลนิธินพเฉลิมโรจน์ ร่วมกับ ททท. / กระทรวงการท่องเที่ยวและกีฬา | วิเคราะห์เมื่อ: 2026-08-20 13:22:13</a:t>
            </a:r>
          </a:p>
          <a:p>
            <a:br/>
            <a:pPr>
              <a:defRPr sz="1400">
                <a:solidFill>
                  <a:srgbClr val="2D3748"/>
                </a:solidFill>
              </a:defRPr>
            </a:pPr>
            <a:r>
              <a:t>สรุปเนื้อหาสำคัญ:</a:t>
            </a:r>
            <a:br/>
            <a:r>
              <a:t>ข้อเสนอพันธมิตรเชิงยุทธศาสตร์เพื่อขับเคลื่อน National Tourism Platform บน Government Cloud (GDCC) 100% ปกป้องอธิปไตยทางข้อมูล และสร้างระบบนิเวศการท่องเที่ยวที่เป็นธรรม โดยนำเสนอผลประโยชน์ต่างตอบแทนแก่ภาคเอกชน อาทิ สายการบิน (First-Touch Booking, Targeted Ad), ห้างสรรพสินค้า/โมเดลการ์ด (Foot Traffic Driver, E-Coupon, Tax Refund Integration) และสถาบันการเงิน (Exclusive Payment Gateway, New Account Acquisition)</a:t>
            </a:r>
          </a:p>
          <a:p>
            <a:br/>
            <a:pPr>
              <a:defRPr sz="1400" b="1">
                <a:solidFill>
                  <a:srgbClr val="2B6CB0"/>
                </a:solidFill>
              </a:defRPr>
            </a:pPr>
            <a:r>
              <a:t>จุดเน้นสำคัญ (Key Points):</a:t>
            </a:r>
          </a:p>
          <a:p>
            <a:pPr>
              <a:defRPr sz="1300">
                <a:solidFill>
                  <a:srgbClr val="4A5568"/>
                </a:solidFill>
              </a:defRPr>
            </a:pPr>
            <a:r>
              <a:t>• แพลตฟอร์มการท่องเที่ยวระดับชาติรายแรกของคนไทย จัดเก็บข้อมูลบน GDCC 100%</a:t>
            </a:r>
          </a:p>
          <a:p>
            <a:pPr>
              <a:defRPr sz="1300">
                <a:solidFill>
                  <a:srgbClr val="4A5568"/>
                </a:solidFill>
              </a:defRPr>
            </a:pPr>
            <a:r>
              <a:t>• ลดค่าธรรมเนียมให้ผู้ประกอบการไทย ดึงเงินและ Big Data พฤติกรรมนักท่องเที่ยวกลับสู่ประเทศ</a:t>
            </a:r>
          </a:p>
          <a:p>
            <a:pPr>
              <a:defRPr sz="1300">
                <a:solidFill>
                  <a:srgbClr val="4A5568"/>
                </a:solidFill>
              </a:defRPr>
            </a:pPr>
            <a:r>
              <a:t>• เป้าหมายเฟสแรก: 100,000 Active Users ต่อวัน</a:t>
            </a:r>
          </a:p>
          <a:p>
            <a:pPr>
              <a:defRPr sz="1300">
                <a:solidFill>
                  <a:srgbClr val="4A5568"/>
                </a:solidFill>
              </a:defRPr>
            </a:pPr>
            <a:r>
              <a:t>• เปลี่ยนจากการขอเงินบริจาคเป็นการมอบผลประโยชน์ทางธุรกิจ (Barter &amp; Support Model)</a:t>
            </a:r>
          </a:p>
          <a:p>
            <a:pPr>
              <a:defRPr sz="1300">
                <a:solidFill>
                  <a:srgbClr val="4A5568"/>
                </a:solidFill>
              </a:defRPr>
            </a:pPr>
            <a:r>
              <a:t>• มูลค่าเพิ่มด้านภาพลักษณ์ ESG &amp; Sustainability และ Data Insight มุมมองภาพรวม (Non-PDPA)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5669280"/>
          </a:xfrm>
          <a:prstGeom prst="rect">
            <a:avLst/>
          </a:prstGeom>
          <a:noFill/>
        </p:spPr>
        <p:txBody>
          <a:bodyPr wrap="square">
            <a:spAutoFit/>
          </a:bodyPr>
          <a:lstStyle/>
          <a:p>
            <a:pPr>
              <a:defRPr sz="2200" b="1">
                <a:solidFill>
                  <a:srgbClr val="1A365D"/>
                </a:solidFill>
              </a:defRPr>
            </a:pPr>
            <a:r>
              <a:t>ตารางสรุปสัดส่วนงบประมาณรายหมวด (Budget Allocation Summary)</a:t>
            </a:r>
          </a:p>
          <a:p>
            <a:pPr>
              <a:defRPr sz="1200">
                <a:solidFill>
                  <a:srgbClr val="718096"/>
                </a:solidFill>
              </a:defRPr>
            </a:pPr>
            <a:r>
              <a:t>หมวดหมู่: การจัดสรรงบประมาณและการเงิน (Budget &amp; Finance) | แหล่งที่มา: โครงการ Thailand Tourism DPI (เสนอขอทุนกองทุน DE) | วิเคราะห์เมื่อ: 2026-08-20 13:22:13</a:t>
            </a:r>
          </a:p>
          <a:p>
            <a:br/>
            <a:pPr>
              <a:defRPr sz="1400">
                <a:solidFill>
                  <a:srgbClr val="2D3748"/>
                </a:solidFill>
              </a:defRPr>
            </a:pPr>
            <a:r>
              <a:t>สรุปเนื้อหาสำคัญ:</a:t>
            </a:r>
            <a:br/>
            <a:r>
              <a:t>วิเคราะห์สัดส่วนงบประมาณรวม 50,000,000 บาท แบ่งออกเป็น 8 หมวดงานหลัก โดยเน้นการลงทุนใน Core Technology (Hardware, Software, Cloud) สูงถึง 62.53% (31.25 ล้านบาท) เพื่อสร้างโครงสร้างพื้นฐานดิจิทัลสาธารณะ (Digital Public Infrastructure) ขณะที่ค่างานบุคลากรควบคุมไว้เพียง 11.24% ต่ำกว่าเกณฑ์มาตรฐานวิจัยทั่วไป</a:t>
            </a:r>
          </a:p>
          <a:p>
            <a:br/>
            <a:pPr>
              <a:defRPr sz="1400" b="1">
                <a:solidFill>
                  <a:srgbClr val="2B6CB0"/>
                </a:solidFill>
              </a:defRPr>
            </a:pPr>
            <a:r>
              <a:t>จุดเน้นสำคัญ (Key Points):</a:t>
            </a:r>
          </a:p>
          <a:p>
            <a:pPr>
              <a:defRPr sz="1300">
                <a:solidFill>
                  <a:srgbClr val="4A5568"/>
                </a:solidFill>
              </a:defRPr>
            </a:pPr>
            <a:r>
              <a:t>• หมวด 1 ระบบแม่ข่ายและอุปกรณ์หลัก: 11,800,000 บาท (23.61%) - จัดหา Server &amp; Security</a:t>
            </a:r>
          </a:p>
          <a:p>
            <a:pPr>
              <a:defRPr sz="1300">
                <a:solidFill>
                  <a:srgbClr val="4A5568"/>
                </a:solidFill>
              </a:defRPr>
            </a:pPr>
            <a:r>
              <a:t>• หมวด 2 พัฒนาระบบซอฟต์แวร์และ Dashboard: 10,450,000 บาท (20.91%) - API Integration 10 หน่วยงาน</a:t>
            </a:r>
          </a:p>
          <a:p>
            <a:pPr>
              <a:defRPr sz="1300">
                <a:solidFill>
                  <a:srgbClr val="4A5568"/>
                </a:solidFill>
              </a:defRPr>
            </a:pPr>
            <a:r>
              <a:t>• หมวด 3 ระบบประมวลผลคลาวด์และ AI: 9,000,000 บาท (18.01%) - CDN, Streaming &amp; AI Trip Planning</a:t>
            </a:r>
          </a:p>
          <a:p>
            <a:pPr>
              <a:defRPr sz="1300">
                <a:solidFill>
                  <a:srgbClr val="4A5568"/>
                </a:solidFill>
              </a:defRPr>
            </a:pPr>
            <a:r>
              <a:t>• หมวด 4 ค่าใช้สอยกิจกรรมการตลาด/PR: 5,650,000 บาท (11.31%) - User Acquisition &amp; Influencer</a:t>
            </a:r>
          </a:p>
          <a:p>
            <a:pPr>
              <a:defRPr sz="1300">
                <a:solidFill>
                  <a:srgbClr val="4A5568"/>
                </a:solidFill>
              </a:defRPr>
            </a:pPr>
            <a:r>
              <a:t>• หมวด 5 ค่าตอบแทนบุคลากรและทีมวิจัย: 5,615,453 บาท (11.24%) - คณะทำงานและช่างเทคนิค 12 เดือน</a:t>
            </a:r>
          </a:p>
          <a:p>
            <a:pPr>
              <a:defRPr sz="1300">
                <a:solidFill>
                  <a:srgbClr val="4A5568"/>
                </a:solidFill>
              </a:defRPr>
            </a:pPr>
            <a:r>
              <a:t>• หมวด 6 ค่าบริหารจัดการและอื่นๆ: 3,559,307 บาท (7.12%)</a:t>
            </a:r>
          </a:p>
          <a:p>
            <a:pPr>
              <a:defRPr sz="1300">
                <a:solidFill>
                  <a:srgbClr val="4A5568"/>
                </a:solidFill>
              </a:defRPr>
            </a:pPr>
            <a:r>
              <a:t>• หมวด 7 ค่าวัสดุอุปกรณ์ Smart Kiosk: 2,280,000 บาท (4.56%) - Interactive Kiosk 10 ชุด</a:t>
            </a:r>
          </a:p>
          <a:p>
            <a:pPr>
              <a:defRPr sz="1300">
                <a:solidFill>
                  <a:srgbClr val="4A5568"/>
                </a:solidFill>
              </a:defRPr>
            </a:pPr>
            <a:r>
              <a:t>• หมวด 8 ค่าเดินทางปฏิบัติงาน Sandbox: 1,618,000 บาท (3.24%) - ลงพื้นที่ 8 จังหวัดอันดามัน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5669280"/>
          </a:xfrm>
          <a:prstGeom prst="rect">
            <a:avLst/>
          </a:prstGeom>
          <a:noFill/>
        </p:spPr>
        <p:txBody>
          <a:bodyPr wrap="square">
            <a:spAutoFit/>
          </a:bodyPr>
          <a:lstStyle/>
          <a:p>
            <a:pPr>
              <a:defRPr sz="2200" b="1">
                <a:solidFill>
                  <a:srgbClr val="1A365D"/>
                </a:solidFill>
              </a:defRPr>
            </a:pPr>
            <a:r>
              <a:t>เช็กลิสต์โครงสร้างหัวข้อและประเด็นปลีกย่อยฉบับสมบูรณ์</a:t>
            </a:r>
          </a:p>
          <a:p>
            <a:pPr>
              <a:defRPr sz="1200">
                <a:solidFill>
                  <a:srgbClr val="718096"/>
                </a:solidFill>
              </a:defRPr>
            </a:pPr>
            <a:r>
              <a:t>หมวดหมู่: เช็กลิสต์และข้อกำหนดโครงการ (Checklist &amp; Requirements) | แหล่งที่มา: มูลนิธินพเฉลิมโรจน์ / กองทุน DE / วุฒิสภา | วิเคราะห์เมื่อ: 2026-08-20 13:22:13</a:t>
            </a:r>
          </a:p>
          <a:p>
            <a:br/>
            <a:pPr>
              <a:defRPr sz="1400">
                <a:solidFill>
                  <a:srgbClr val="2D3748"/>
                </a:solidFill>
              </a:defRPr>
            </a:pPr>
            <a:r>
              <a:t>สรุปเนื้อหาสำคัญ:</a:t>
            </a:r>
            <a:br/>
            <a:r>
              <a:t>เช็กลิสต์ความครบถ้วน 100% สำหรับจัดทำข้อเสนอโครงการ (Proposal) ครอบคลุม 7 หมวดหมู่หลัก ได้แก่ ข้อมูลองค์กรภาคีสี่ฝ่าย, บริบทเชิงยุทธศาสตร์ Living Lab (8 จังหวัดอันดามัน &amp; ลังกาวี), สถาปัตยกรรม 3 แพลตฟอร์ม (ทศกัณฐ์, เบญจรงค์, Staff App), ระบบความปลอดภัย RBAC &amp; PDPA, แผนความต่อเนื่อง DR/HA, และงวดงานการส่งมอบ 4 งวดใน 12 เดือน</a:t>
            </a:r>
          </a:p>
          <a:p>
            <a:br/>
            <a:pPr>
              <a:defRPr sz="1400" b="1">
                <a:solidFill>
                  <a:srgbClr val="2B6CB0"/>
                </a:solidFill>
              </a:defRPr>
            </a:pPr>
            <a:r>
              <a:t>จุดเน้นสำคัญ (Key Points):</a:t>
            </a:r>
          </a:p>
          <a:p>
            <a:pPr>
              <a:defRPr sz="1300">
                <a:solidFill>
                  <a:srgbClr val="4A5568"/>
                </a:solidFill>
              </a:defRPr>
            </a:pPr>
            <a:r>
              <a:t>• ภาคีสี่ฝ่าย: TCT, TFOPTA, คณะทำงานส่งเสริมฯ ภาคใต้ (วุฒิสภา), มูลนิธินพเฉลิมโรจน์</a:t>
            </a:r>
          </a:p>
          <a:p>
            <a:pPr>
              <a:defRPr sz="1300">
                <a:solidFill>
                  <a:srgbClr val="4A5568"/>
                </a:solidFill>
              </a:defRPr>
            </a:pPr>
            <a:r>
              <a:t>• พื้นที่ Sandbox: ศูนย์บัญชาการเกาะหลีเป๊ะ สตูล และเชื่อมโยงลังกาวี มาเลเซีย</a:t>
            </a:r>
          </a:p>
          <a:p>
            <a:pPr>
              <a:defRPr sz="1300">
                <a:solidFill>
                  <a:srgbClr val="4A5568"/>
                </a:solidFill>
              </a:defRPr>
            </a:pPr>
            <a:r>
              <a:t>• สถาปัตยกรรม 3 Pillars: Tohsakan (B2C Front-end), Benjarong (B2B SaaS &amp; B2G), Staff App (Operations)</a:t>
            </a:r>
          </a:p>
          <a:p>
            <a:pPr>
              <a:defRPr sz="1300">
                <a:solidFill>
                  <a:srgbClr val="4A5568"/>
                </a:solidFill>
              </a:defRPr>
            </a:pPr>
            <a:r>
              <a:t>• ความปลอดภัย 4 ชั้น: JwtAuthGuard, RolesGuard, PartnerMenuGuard, AuthorityGuard</a:t>
            </a:r>
          </a:p>
          <a:p>
            <a:pPr>
              <a:defRPr sz="1300">
                <a:solidFill>
                  <a:srgbClr val="4A5568"/>
                </a:solidFill>
              </a:defRPr>
            </a:pPr>
            <a:r>
              <a:t>• กำหนด 7 Roles Matrix: user, partner, partner_staff, agency, authority, admin, super_admin</a:t>
            </a:r>
          </a:p>
          <a:p>
            <a:pPr>
              <a:defRPr sz="1300">
                <a:solidFill>
                  <a:srgbClr val="4A5568"/>
                </a:solidFill>
              </a:defRPr>
            </a:pPr>
            <a:r>
              <a:t>• SLA ความเสถียร &gt;= 99.5%, RPO &lt;= 5 นาที, RTO &lt;= 30 นาที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5669280"/>
          </a:xfrm>
          <a:prstGeom prst="rect">
            <a:avLst/>
          </a:prstGeom>
          <a:noFill/>
        </p:spPr>
        <p:txBody>
          <a:bodyPr wrap="square">
            <a:spAutoFit/>
          </a:bodyPr>
          <a:lstStyle/>
          <a:p>
            <a:pPr>
              <a:defRPr sz="2200" b="1">
                <a:solidFill>
                  <a:srgbClr val="1A365D"/>
                </a:solidFill>
              </a:defRPr>
            </a:pPr>
            <a:r>
              <a:t>โครงร่างเนื้อหาเล่มข้อเสนอโครงการ (Final Content Outline)</a:t>
            </a:r>
          </a:p>
          <a:p>
            <a:pPr>
              <a:defRPr sz="1200">
                <a:solidFill>
                  <a:srgbClr val="718096"/>
                </a:solidFill>
              </a:defRPr>
            </a:pPr>
            <a:r>
              <a:t>หมวดหมู่: ยุทธศาสตร์และข้อเสนอพันธมิตร (Strategy &amp; Partnership) | แหล่งที่มา: มูลนิธินพเฉลิมโรจน์ | วิเคราะห์เมื่อ: 2026-08-20 13:22:13</a:t>
            </a:r>
          </a:p>
          <a:p>
            <a:br/>
            <a:pPr>
              <a:defRPr sz="1400">
                <a:solidFill>
                  <a:srgbClr val="2D3748"/>
                </a:solidFill>
              </a:defRPr>
            </a:pPr>
            <a:r>
              <a:t>สรุปเนื้อหาสำคัญ:</a:t>
            </a:r>
            <a:br/>
            <a:r>
              <a:t>โครงร่างเนื้อหาเล่มข้อเสนอโครงการอย่างละเอียด แบ่งออกเป็น 2 ส่วนหลัก: [ส่วนที่ 1] แผนยุทธศาสตร์และสถาปัตยกรรมไอที (ทศกัณฐ์, เบญจรงค์, Staff App, Cybersecurity, DR Plan, Impact KPIs) และ [ส่วนที่ 2] แหล่งเงินทุนและเกณฑ์คุณสมบัติขอรับการสนับสนุนจากภาครัฐ (กองทุน DE, depa, กองทุนท่องเที่ยว, ททท., สสว., CEA) และภาคเอกชน (ธนาคาร, ค่ายมือถือ, สายการบิน)</a:t>
            </a:r>
          </a:p>
          <a:p>
            <a:br/>
            <a:pPr>
              <a:defRPr sz="1400" b="1">
                <a:solidFill>
                  <a:srgbClr val="2B6CB0"/>
                </a:solidFill>
              </a:defRPr>
            </a:pPr>
            <a:r>
              <a:t>จุดเน้นสำคัญ (Key Points):</a:t>
            </a:r>
          </a:p>
          <a:p>
            <a:pPr>
              <a:defRPr sz="1300">
                <a:solidFill>
                  <a:srgbClr val="4A5568"/>
                </a:solidFill>
              </a:defRPr>
            </a:pPr>
            <a:r>
              <a:t>• วิสัยทัศน์ Tourism DPI: สร้างคลังข้อมูลดิจิทัล National Tourism Experience Database</a:t>
            </a:r>
          </a:p>
          <a:p>
            <a:pPr>
              <a:defRPr sz="1300">
                <a:solidFill>
                  <a:srgbClr val="4A5568"/>
                </a:solidFill>
              </a:defRPr>
            </a:pPr>
            <a:r>
              <a:t>• แนวทางการขอทุนภาครัฐ: กองทุน DE (10M-50M), depa (1M-5M), กองทุนท่องเที่ยว (5M-20M), ททท. (Co-Budget)</a:t>
            </a:r>
          </a:p>
          <a:p>
            <a:pPr>
              <a:defRPr sz="1300">
                <a:solidFill>
                  <a:srgbClr val="4A5568"/>
                </a:solidFill>
              </a:defRPr>
            </a:pPr>
            <a:r>
              <a:t>• แนวทาง Sponsorship เอกชน: ธนาคาร (Exclusive Payment), Telco (SMS &amp; Tourist SIM), Airlines &amp; Retail</a:t>
            </a:r>
          </a:p>
          <a:p>
            <a:pPr>
              <a:defRPr sz="1300">
                <a:solidFill>
                  <a:srgbClr val="4A5568"/>
                </a:solidFill>
              </a:defRPr>
            </a:pPr>
            <a:r>
              <a:t>• กลยุทธ์ Zero-Dollar Marketing: Barter Media แลกเปลี่ยนพื้นที่โฆษณาในแอปกับ Big Data Insight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5669280"/>
          </a:xfrm>
          <a:prstGeom prst="rect">
            <a:avLst/>
          </a:prstGeom>
          <a:noFill/>
        </p:spPr>
        <p:txBody>
          <a:bodyPr wrap="square">
            <a:spAutoFit/>
          </a:bodyPr>
          <a:lstStyle/>
          <a:p>
            <a:pPr>
              <a:defRPr sz="2200" b="1">
                <a:solidFill>
                  <a:srgbClr val="1A365D"/>
                </a:solidFill>
              </a:defRPr>
            </a:pPr>
            <a:r>
              <a:t>การใช้ประโยชน์ Government Cloud (GDCC) และสถาปัตยกรรมระบบ</a:t>
            </a:r>
          </a:p>
          <a:p>
            <a:pPr>
              <a:defRPr sz="1200">
                <a:solidFill>
                  <a:srgbClr val="718096"/>
                </a:solidFill>
              </a:defRPr>
            </a:pPr>
            <a:r>
              <a:t>หมวดหมู่: สถาปัตยกรรมระบบและคลาวด์ภาครัฐ (Architecture &amp; GDCC Cloud) | แหล่งที่มา: สถาบันส่งเสริมการวิเคราะห์และบริหารข้อมูลดิจิทัล (GBDi / DGA) | วิเคราะห์เมื่อ: 2026-08-20 13:22:13</a:t>
            </a:r>
          </a:p>
          <a:p>
            <a:br/>
            <a:pPr>
              <a:defRPr sz="1400">
                <a:solidFill>
                  <a:srgbClr val="2D3748"/>
                </a:solidFill>
              </a:defRPr>
            </a:pPr>
            <a:r>
              <a:t>สรุปเนื้อหาสำคัญ:</a:t>
            </a:r>
            <a:br/>
            <a:r>
              <a:t>รายละเอียดการติดตั้งและประมวลผลบน Government Data Center and Cloud Service (GDCC) เพื่อรักษาอธิปไตยทางข้อมูล 100% พร้อมการประมาณขนาดทรัพยากร (Resource Estimation) รองรับ 100,000 Active Users/วัน (250-280 vCPU, RAM 500-550 GB, Storage 43 TB) และสถาปัตยกรรม Zero Trust, Confidential Computing, Multi-Zone DR Site</a:t>
            </a:r>
          </a:p>
          <a:p>
            <a:br/>
            <a:pPr>
              <a:defRPr sz="1400" b="1">
                <a:solidFill>
                  <a:srgbClr val="2B6CB0"/>
                </a:solidFill>
              </a:defRPr>
            </a:pPr>
            <a:r>
              <a:t>จุดเน้นสำคัญ (Key Points):</a:t>
            </a:r>
          </a:p>
          <a:p>
            <a:pPr>
              <a:defRPr sz="1300">
                <a:solidFill>
                  <a:srgbClr val="4A5568"/>
                </a:solidFill>
              </a:defRPr>
            </a:pPr>
            <a:r>
              <a:t>• จัดเก็บข้อมูลพฤติกรรม ประวัติการเดินทาง และการจ่ายเงินบนคลาวด์รัฐในไทย 100%</a:t>
            </a:r>
          </a:p>
          <a:p>
            <a:pPr>
              <a:defRPr sz="1300">
                <a:solidFill>
                  <a:srgbClr val="4A5568"/>
                </a:solidFill>
              </a:defRPr>
            </a:pPr>
            <a:r>
              <a:t>• รองรับ Microservices บน Kubernetes (Auto-scaling Container)</a:t>
            </a:r>
          </a:p>
          <a:p>
            <a:pPr>
              <a:defRPr sz="1300">
                <a:solidFill>
                  <a:srgbClr val="4A5568"/>
                </a:solidFill>
              </a:defRPr>
            </a:pPr>
            <a:r>
              <a:t>• ระบบรักษาความปลอดภัย: Data-at-Rest (AES-256), Data-in-Transit (TLS 1.3), Data-in-Use (Confidential RAM)</a:t>
            </a:r>
          </a:p>
          <a:p>
            <a:pPr>
              <a:defRPr sz="1300">
                <a:solidFill>
                  <a:srgbClr val="4A5568"/>
                </a:solidFill>
              </a:defRPr>
            </a:pPr>
            <a:r>
              <a:t>• ประเมินทรัพยากร GDCC ที่ขอสนับสนุนฟรี: 250-280 vCPU, RAM 500-550 GB, Storage 43 TB</a:t>
            </a:r>
          </a:p>
          <a:p>
            <a:pPr>
              <a:defRPr sz="1300">
                <a:solidFill>
                  <a:srgbClr val="4A5568"/>
                </a:solidFill>
              </a:defRPr>
            </a:pPr>
            <a:r>
              <a:t>• งบพัฒนาที่มูลนิธิต้องจัดหา: 27,000,000 – 49,000,000 บาท แบ่งเป็น 4 เฟส ใน 12 เดือน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5669280"/>
          </a:xfrm>
          <a:prstGeom prst="rect">
            <a:avLst/>
          </a:prstGeom>
          <a:noFill/>
        </p:spPr>
        <p:txBody>
          <a:bodyPr wrap="square">
            <a:spAutoFit/>
          </a:bodyPr>
          <a:lstStyle/>
          <a:p>
            <a:pPr>
              <a:defRPr sz="2200" b="1">
                <a:solidFill>
                  <a:srgbClr val="1A365D"/>
                </a:solidFill>
              </a:defRPr>
            </a:pPr>
            <a:r>
              <a:t>บันทึกความเข้าใจความร่วมมือขั้นต้น (Memorandum of Understanding: MOU)</a:t>
            </a:r>
          </a:p>
          <a:p>
            <a:pPr>
              <a:defRPr sz="1200">
                <a:solidFill>
                  <a:srgbClr val="718096"/>
                </a:solidFill>
              </a:defRPr>
            </a:pPr>
            <a:r>
              <a:t>หมวดหมู่: บันทึกความร่วมมือ (MOU &amp; Governance) | แหล่งที่มา: สภาอุตฯ ท่องเที่ยว, TFOPTA, คณะทำงานส่งเสริมฯ ภาคใต้ (วุฒิสภา), มูลนิธินพเฉลิมโรจน์ | วิเคราะห์เมื่อ: 2026-08-20 13:22:13</a:t>
            </a:r>
          </a:p>
          <a:p>
            <a:br/>
            <a:pPr>
              <a:defRPr sz="1400">
                <a:solidFill>
                  <a:srgbClr val="2D3748"/>
                </a:solidFill>
              </a:defRPr>
            </a:pPr>
            <a:r>
              <a:t>สรุปเนื้อหาสำคัญ:</a:t>
            </a:r>
            <a:br/>
            <a:r>
              <a:t>กรอบความร่วมมือภาคี 4 ฝ่าย ลงนามอย่างเป็นทางการเมื่อวันที่ 16 กรกฎาคม พ.ศ. 2569 ว่าด้วยการพัฒนาโครงสร้างพื้นฐาน ข้อมูล และนวัตกรรมเพื่อเศรษฐกิจการท่องเที่ยว สุขภาพมูลค่าสูง และบริการแห่งอนาคต โดยกำหนดบทบาทหน้าที่ชัดเจนของสภาอุตฯ ท่องเที่ยว, TFOPTA, คณะทำงานวุฒิสภา และมูลนิธินพเฉลิมโรจน์</a:t>
            </a:r>
          </a:p>
          <a:p>
            <a:br/>
            <a:pPr>
              <a:defRPr sz="1400" b="1">
                <a:solidFill>
                  <a:srgbClr val="2B6CB0"/>
                </a:solidFill>
              </a:defRPr>
            </a:pPr>
            <a:r>
              <a:t>จุดเน้นสำคัญ (Key Points):</a:t>
            </a:r>
          </a:p>
          <a:p>
            <a:pPr>
              <a:defRPr sz="1300">
                <a:solidFill>
                  <a:srgbClr val="4A5568"/>
                </a:solidFill>
              </a:defRPr>
            </a:pPr>
            <a:r>
              <a:t>• วันลงนาม: วันพฤหัสบดีที่ 16 กรกฎาคม พ.ศ. 2569</a:t>
            </a:r>
          </a:p>
          <a:p>
            <a:pPr>
              <a:defRPr sz="1300">
                <a:solidFill>
                  <a:srgbClr val="4A5568"/>
                </a:solidFill>
              </a:defRPr>
            </a:pPr>
            <a:r>
              <a:t>• สภาอุตสาหกรรมท่องเที่ยวแห่งประเทศไทย: ศูนย์กลางประสานผู้ประกอบการ Supply Side ทั่วประเทศ</a:t>
            </a:r>
          </a:p>
          <a:p>
            <a:pPr>
              <a:defRPr sz="1300">
                <a:solidFill>
                  <a:srgbClr val="4A5568"/>
                </a:solidFill>
              </a:defRPr>
            </a:pPr>
            <a:r>
              <a:t>• TFOPTA: ประสานความร่วมมือเครือข่ายระดับภูมิภาค หนุนท่องเที่ยวมูลค่าสูงและเชิงแพทย์</a:t>
            </a:r>
          </a:p>
          <a:p>
            <a:pPr>
              <a:defRPr sz="1300">
                <a:solidFill>
                  <a:srgbClr val="4A5568"/>
                </a:solidFill>
              </a:defRPr>
            </a:pPr>
            <a:r>
              <a:t>• คณะทำงานวุฒิสภา: ขับเคลื่อนเชิงนโยบาย บูรณาการภาครัฐ-เอกชน-วิชาการ</a:t>
            </a:r>
          </a:p>
          <a:p>
            <a:pPr>
              <a:defRPr sz="1300">
                <a:solidFill>
                  <a:srgbClr val="4A5568"/>
                </a:solidFill>
              </a:defRPr>
            </a:pPr>
            <a:r>
              <a:t>• มูลนิธินพเฉลิมโรจน์: บริหารจัดการโครงการ วิจัยและพัฒนาแพลตฟอร์มดิจิทัลเพื่อประโยชน์สาธารณะ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698480" cy="5669280"/>
          </a:xfrm>
          <a:prstGeom prst="rect">
            <a:avLst/>
          </a:prstGeom>
          <a:noFill/>
        </p:spPr>
        <p:txBody>
          <a:bodyPr wrap="square">
            <a:spAutoFit/>
          </a:bodyPr>
          <a:lstStyle/>
          <a:p>
            <a:pPr>
              <a:defRPr sz="2200" b="1">
                <a:solidFill>
                  <a:srgbClr val="1A365D"/>
                </a:solidFill>
              </a:defRPr>
            </a:pPr>
            <a:r>
              <a:t>แผนธุรกิจและโมเดลธุรกิจ (Business Model Canvas &amp; Business Plan)</a:t>
            </a:r>
          </a:p>
          <a:p>
            <a:pPr>
              <a:defRPr sz="1200">
                <a:solidFill>
                  <a:srgbClr val="718096"/>
                </a:solidFill>
              </a:defRPr>
            </a:pPr>
            <a:r>
              <a:t>หมวดหมู่: แผนธุรกิจและโมเดลธุรกิจ (Business Model &amp; Plan) | แหล่งที่มา: โครงการโครงสร้างพื้นฐานดิจิทัลการท่องเที่ยวไทย | วิเคราะห์เมื่อ: 2026-08-20 13:22:13</a:t>
            </a:r>
          </a:p>
          <a:p>
            <a:br/>
            <a:pPr>
              <a:defRPr sz="1400">
                <a:solidFill>
                  <a:srgbClr val="2D3748"/>
                </a:solidFill>
              </a:defRPr>
            </a:pPr>
            <a:r>
              <a:t>สรุปเนื้อหาสำคัญ:</a:t>
            </a:r>
            <a:br/>
            <a:r>
              <a:t>รายละเอียด Business Model Canvas 10 องค์ประกอบประกอบด้วย Key Partners, Key Activities, Value Propositions, Customer Relationships, Customer Segments, Key Resources, Channels, Revenue Streams, Cost Structure และ Government Subsidy พร้อมวิเคราะห์ SWOT, Porter's Five Forces และการวิเคราะห์ความเสี่ยง Compliance Risk (PDPA, e-Payment, Cybersecurity Act)</a:t>
            </a:r>
          </a:p>
          <a:p>
            <a:br/>
            <a:pPr>
              <a:defRPr sz="1400" b="1">
                <a:solidFill>
                  <a:srgbClr val="2B6CB0"/>
                </a:solidFill>
              </a:defRPr>
            </a:pPr>
            <a:r>
              <a:t>จุดเน้นสำคัญ (Key Points):</a:t>
            </a:r>
          </a:p>
          <a:p>
            <a:pPr>
              <a:defRPr sz="1300">
                <a:solidFill>
                  <a:srgbClr val="4A5568"/>
                </a:solidFill>
              </a:defRPr>
            </a:pPr>
            <a:r>
              <a:t>• Value Proposition: แพลตฟอร์มท่องเที่ยวแห่งชาติครบวงจร ลดค่าคอมมิชชัน ทวงคืนอธิปไตยข้อมูล</a:t>
            </a:r>
          </a:p>
          <a:p>
            <a:pPr>
              <a:defRPr sz="1300">
                <a:solidFill>
                  <a:srgbClr val="4A5568"/>
                </a:solidFill>
              </a:defRPr>
            </a:pPr>
            <a:r>
              <a:t>• Revenue Streams: Micro-transaction fee, Cross-business package, Add-on Telemed/Insurance</a:t>
            </a:r>
          </a:p>
          <a:p>
            <a:pPr>
              <a:defRPr sz="1300">
                <a:solidFill>
                  <a:srgbClr val="4A5568"/>
                </a:solidFill>
              </a:defRPr>
            </a:pPr>
            <a:r>
              <a:t>• SWOT Analysis: Strengths (ระบบครบวงจร B2B/B2C/Ops, ภาคีวุฒิสภาหนุน), Threats (OTA ต่างชาติ)</a:t>
            </a:r>
          </a:p>
          <a:p>
            <a:pPr>
              <a:defRPr sz="1300">
                <a:solidFill>
                  <a:srgbClr val="4A5568"/>
                </a:solidFill>
              </a:defRPr>
            </a:pPr>
            <a:r>
              <a:t>• Compliance Risk: แต่งตั้ง DPO, ทำ Consent ตาม PDPA, ใช้ Payment Gateway ที่มีใบอนุญาต ธปท.</a:t>
            </a:r>
          </a:p>
          <a:p>
            <a:pPr>
              <a:defRPr sz="1300">
                <a:solidFill>
                  <a:srgbClr val="4A5568"/>
                </a:solidFill>
              </a:defRPr>
            </a:pPr>
            <a:r>
              <a:t>• Roadmap 6 ระยะ: จาก Proof of Concept เกาะหลีเป๊ะ สู่การขยายผลระดับประเทศและข้ามแดน (ลังกาวี)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